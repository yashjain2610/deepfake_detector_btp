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4" r:id="rId16"/>
    <p:sldId id="276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6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Arial"/>
              </a:rPr>
              <a:t>AUROC vs. JPEG Quality Factor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FF++ Validation</c:v>
                </c:pt>
              </c:strCache>
            </c:strRef>
          </c:tx>
          <c:spPr>
            <a:ln w="38100" cap="flat">
              <a:solidFill>
                <a:srgbClr val="E8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B84B"/>
              </a:solidFill>
              <a:ln w="9525" cap="flat">
                <a:solidFill>
                  <a:srgbClr val="E8B8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QF=20</c:v>
                </c:pt>
                <c:pt idx="1">
                  <c:v>QF=40</c:v>
                </c:pt>
                <c:pt idx="2">
                  <c:v>QF=60</c:v>
                </c:pt>
                <c:pt idx="3">
                  <c:v>QF=80</c:v>
                </c:pt>
                <c:pt idx="4">
                  <c:v>QF=100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0.93959999999999999</c:v>
                </c:pt>
                <c:pt idx="1">
                  <c:v>0.97589999999999999</c:v>
                </c:pt>
                <c:pt idx="2">
                  <c:v>0.98719999999999997</c:v>
                </c:pt>
                <c:pt idx="3">
                  <c:v>0.99339999999999995</c:v>
                </c:pt>
                <c:pt idx="4">
                  <c:v>0.99560000000000004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ED-A147-8C7B-43DA97C07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Celeb-DF-v2</c:v>
                </c:pt>
              </c:strCache>
            </c:strRef>
          </c:tx>
          <c:spPr>
            <a:ln w="38100" cap="flat">
              <a:solidFill>
                <a:srgbClr val="4FC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C3F7"/>
              </a:solidFill>
              <a:ln w="9525" cap="flat">
                <a:solidFill>
                  <a:srgbClr val="4FC3F7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QF=20</c:v>
                </c:pt>
                <c:pt idx="1">
                  <c:v>QF=40</c:v>
                </c:pt>
                <c:pt idx="2">
                  <c:v>QF=60</c:v>
                </c:pt>
                <c:pt idx="3">
                  <c:v>QF=80</c:v>
                </c:pt>
                <c:pt idx="4">
                  <c:v>QF=100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0.81979999999999997</c:v>
                </c:pt>
                <c:pt idx="1">
                  <c:v>0.88349999999999995</c:v>
                </c:pt>
                <c:pt idx="2">
                  <c:v>0.89570000000000005</c:v>
                </c:pt>
                <c:pt idx="3">
                  <c:v>0.89670000000000005</c:v>
                </c:pt>
                <c:pt idx="4">
                  <c:v>0.8972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ED-A147-8C7B-43DA97C079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6350" cap="flat">
              <a:solidFill>
                <a:srgbClr val="2A3F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E5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B2E5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FFFFFF"/>
                </a:solidFill>
                <a:latin typeface="Arial"/>
              </a:rPr>
              <a:t>Our Exact QF Sweep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 (FF++ val)</c:v>
                </c:pt>
              </c:strCache>
            </c:strRef>
          </c:tx>
          <c:spPr>
            <a:ln w="31750" cap="flat">
              <a:solidFill>
                <a:srgbClr val="E8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B84B"/>
              </a:solidFill>
              <a:ln w="9525" cap="flat">
                <a:solidFill>
                  <a:srgbClr val="E8B84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QF=20</c:v>
                </c:pt>
                <c:pt idx="1">
                  <c:v>QF=40</c:v>
                </c:pt>
                <c:pt idx="2">
                  <c:v>QF=60</c:v>
                </c:pt>
                <c:pt idx="3">
                  <c:v>QF=80</c:v>
                </c:pt>
                <c:pt idx="4">
                  <c:v>QF=100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0.93959999999999999</c:v>
                </c:pt>
                <c:pt idx="1">
                  <c:v>0.97589999999999999</c:v>
                </c:pt>
                <c:pt idx="2">
                  <c:v>0.98719999999999997</c:v>
                </c:pt>
                <c:pt idx="3">
                  <c:v>0.99339999999999995</c:v>
                </c:pt>
                <c:pt idx="4">
                  <c:v>0.99560000000000004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A8-F643-ACA5-D53B0A3E09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 (Celeb-DF-v2)</c:v>
                </c:pt>
              </c:strCache>
            </c:strRef>
          </c:tx>
          <c:spPr>
            <a:ln w="31750" cap="flat">
              <a:solidFill>
                <a:srgbClr val="4FC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C3F7"/>
              </a:solidFill>
              <a:ln w="9525" cap="flat">
                <a:solidFill>
                  <a:srgbClr val="4FC3F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QF=20</c:v>
                </c:pt>
                <c:pt idx="1">
                  <c:v>QF=40</c:v>
                </c:pt>
                <c:pt idx="2">
                  <c:v>QF=60</c:v>
                </c:pt>
                <c:pt idx="3">
                  <c:v>QF=80</c:v>
                </c:pt>
                <c:pt idx="4">
                  <c:v>QF=100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0.82440000000000002</c:v>
                </c:pt>
                <c:pt idx="1">
                  <c:v>0.8881</c:v>
                </c:pt>
                <c:pt idx="2">
                  <c:v>0.90029999999999999</c:v>
                </c:pt>
                <c:pt idx="3">
                  <c:v>0.90129999999999999</c:v>
                </c:pt>
                <c:pt idx="4">
                  <c:v>0.90180000000000005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A8-F643-ACA5-D53B0A3E09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2A3F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E5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1B2E5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87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is our final B.Tech project defense. Our project proposes a novel dual-stream deepfake detector that is resilient to JPEG and compression-based degradations, by fusing spatial and frequency domain features through a learned attention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Deepfakes are now weaponized in fraud, political disinformation, and non-consensual imagery. The core challenge we address is that real-world platforms compress videos heavily — this wipes out the high-frequency forensic signals most detectors rely on. Our work directly targets this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tackle two intertwined problems. First, compression fragility: JPEG and video codecs destroy the very artifacts detectors look for. Second, cross-dataset generalization: a model trained on FaceForensics++ is tested on Celeb-DF-v2, which uses completely different synthesis methods. We also flag the importance of threshold selection and balanced metrics on imbalanced test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five key objectives flow naturally from the problem. We aim to build, train, and honestly evaluate a dual-stream detector. Every design decision — from gated fusion to frequency masking — targets real-world compression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papers directly underpin our work. Rossler gives us FF++ and the Xception baseline. Li gives Celeb-DF-v2. Frank and F3-Net motivate our DCT frequency stream. Multi-Attentional validates our Grad-CAM findings. AltFreezing is the video robustness SOTA we compare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a dual-stream network. Spatial features come from Xception (ImageNet-pretrained), frequency features from ResNet-18 applied to per-channel DCT log-magnitude maps. A learned sigmoid gate decides how much to trust each stream — it can shift dynamically based on how much compression has degraded the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video is uniformly sampled into frames. MTCNN detects all faces and we keep the largest crop with a margin for context. The face is resized to 299×299 for both branches. The DCT branch applies a 2D DCT per channel and takes the log of the magnitude — this converts compression block artifacts into visible patterns ResNet-18 can learn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streams are projected to the same 512-D space. The gate is a learned sigmoid function over the concatenation of both vectors — it produces a channel-wise weight. High-quality inputs tend to rely more on spatial features; compressed inputs shift weight to frequency features. The final classifier is a simple two-layer MLP.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train with Focal Loss to handle class imbalance in FF++ (roughly 5:1 fake-to-real ratio). Label smoothing prevents overconfidence. Cosine annealing with warm restarts helps the model escape local minima. The six augmentations are specifically designed to simulate the types of degradation a real-world detector will encounter on social media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critical design choice is threshold selection. We select all thresholds on the FF++ validation set and apply them unchanged to Celeb-DF-v2 — this simulates a realistic deployment scenario where you can't peek at the test set. We report both frame-level and video-level metrics; video-level aggregates frame predictions by averaging.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result is video-level AUROC of 0.9955 on FF++ — essentially near-perfect in-domain performance. On Celeb-DF-v2, cross-dataset, we achieve 0.9018 video AUROC which is competitive with prior work despite zero fine-tuning. Note that frame-level metrics are weaker because frame-to-frame variance is high; video averaging smooths this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now includes the true current SOTA: Effort (ICML 2025 Spotlight, 95.6%) uses SVD-decomposed weight orthogonal subspaces on CLIP; GenD (WACV 2026, 97.2% avg cross-dataset) fine-tunes only 0.03% of CLIP ViT-L/14 via layer-norm tuning on a hyperspherical manifold. Both are foundation model methods with 300M+ params. Our 35M-param two-stream design achieves 90.2% — competitive with 2019–2024 SOTA. We explicitly acknowledge the gap vs 2025 foundation model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sweep JPEG quality from 100 down to 20. On FF++, AUROC only drops from 0.9956 to 0.9396 — less than 6 percentage points even at brutal QF=20 compression. On Celeb-DF-v2, the drop is similar in magnitude. This validates that our frequency-stream and compression-simulation augmentations make the model meaningfully robust to real-world encoding.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caveat first: no paper publishes the exact QF={100,80,60,40,20} sweep for all these methods side by side. Numbers for prior methods are from their own published robustness sections under similar but not identical protocols. The key message is directional: our 5.6 pp AUROC drop under extreme JPEG compression is competitive with LAA-Net (4.8 pp), AltFreezing (5.8 pp), and GenD (4.1 pp) — all methods that explicitly target compression robustness. Xception and F3-Net (spatial-only / naive frequency) drop 9-11 pp, confirming our compression-aware training makes a real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five key findings. On future work: temporal modeling and DFDC/WildDeepfake evaluation are directly from our paper Section VIII. Knowledge distillation targets practical deployment. These are grounded next steps, not speculation.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[1][2] are datasets. [3][4] motivate the DCT frequency stream. [5] AltFreezing is the video SOTA baseline. [6] LAA-Net is the 2024 SOTA. [7] Effort (ICML 2025) and [8] GenD (WACV 2026) are the latest foundation model SOTA papers we compare against in Table X of our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committee. Open the floor for questions. Be ready to explain: (1) why gated fusion helps compression robustness over spatial-only, (2) how Youden threshold was selected and why it generalizes, (3) the class imbalance handling strategy, and (4) the DCT preprocessing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TECHNOLOGY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Technological University (Formerly DCE, Govt. of Delhi)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137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303520" cy="36576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Compression-Resilient Deepfake Detector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Attentive Spatial-Frequency Fusion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3200400" cy="292608"/>
          </a:xfrm>
          <a:prstGeom prst="roundRect">
            <a:avLst>
              <a:gd name="adj" fmla="val 1875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B.Tech Project Presentation —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8412480" cy="228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3273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Aggarwal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(2K22/CO/508)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520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Jain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(2K22/CO/510)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063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3273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Neha Gupta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Technological University</a:t>
            </a:r>
            <a:endParaRPr lang="en-US" sz="1000" dirty="0"/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D2488318-E946-C3DA-5693-60BE4480C45E}"/>
              </a:ext>
            </a:extLst>
          </p:cNvPr>
          <p:cNvSpPr/>
          <p:nvPr/>
        </p:nvSpPr>
        <p:spPr>
          <a:xfrm>
            <a:off x="7146400" y="161965"/>
            <a:ext cx="1631840" cy="1118195"/>
          </a:xfrm>
          <a:custGeom>
            <a:avLst/>
            <a:gdLst/>
            <a:ahLst/>
            <a:cxnLst/>
            <a:rect l="l" t="t" r="r" b="b"/>
            <a:pathLst>
              <a:path w="2869571" h="2860006">
                <a:moveTo>
                  <a:pt x="0" y="0"/>
                </a:moveTo>
                <a:lnTo>
                  <a:pt x="2869571" y="0"/>
                </a:lnTo>
                <a:lnTo>
                  <a:pt x="2869571" y="2860005"/>
                </a:lnTo>
                <a:lnTo>
                  <a:pt x="0" y="28600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Why Deepfake Detection Matters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338328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42316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of Digital Trust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videos fuel disinformation, defamation and identity fraud at unprecedented scale.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338328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423160" cy="2743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6642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Compression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10312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platforms re-encode videos (JPEG/H.264) at low bitrates, stripping away the fine forensic artifacts most detectors rely 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97480" cy="338328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4231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6642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Failure in the Wild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10312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models trained on clean data drop dramatically when evaluated on compressed or out-of-domain videos.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build a detector that remains robust after lossy compression and generalizes across datasets.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open challenges in deepfake detection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347472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14800" cy="32004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1: Compression Fragility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detectors rely on pixel-level artifacts erased by JPEG/H.264 compression
</a:t>
            </a: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training augmentations insufficiently simulate real-world degradation
</a:t>
            </a: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cues survive compression differently from spatial cues
</a:t>
            </a: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framework fuses both modalities adaptively under compression stress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347472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32004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2: Cross-Dataset Generalization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FF++ overfit to specific GAN/diffusion artifact patterns
</a:t>
            </a: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Celeb-DF-v2 uses different synthesis pipelines — distribution shift is severe
</a:t>
            </a: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Fixed-threshold (0.5) accuracy is misleading on highly imbalanced test sets
</a:t>
            </a: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 requires balanced metrics and validation-selected thresholds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1430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57200" cy="114300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0332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spatial + frequency dual-stream network capturing complementary artifacts from RGB and DCT representations.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1430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57200" cy="114300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960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10332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Compression-Resilient Training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JPEG simulation, Gaussian blur, resolution drop and frequency masking augmentations during training.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4114800" cy="11430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457200" cy="114300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28600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359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Attentive Gated Fusion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6974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channel-wise sigmoid gate to adaptively balance spatial vs. frequency features per sample.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14800" cy="11430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57200" cy="114300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359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Cross-Dataset Evaluation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6974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frame- and video-level metrics with validation-selected thresholds on both FF++ and Celeb-DF-v2.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11880"/>
            <a:ext cx="8503920" cy="11430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611880"/>
            <a:ext cx="457200" cy="114300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36118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68503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&amp; Robustness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individual stream contributions and model behaviour across JPEG quality factors 100→20.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61309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E8B8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prior work this project builds 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69080" cy="987552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9768" y="923544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9768" y="9235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 + Baseline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47672" y="90525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E8B8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Rossler et al.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E8B8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ICCV 2019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19786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FaceForensics++ with 4 manipulation methods and Xception as the strong spatial baseline. FF++ is our training dataset and in-domain benchmark.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69080" cy="987552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81728" y="923544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81728" y="9235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Benchmark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99632" y="90525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 et al.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CVPR 2020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119786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Celeb-DF-v2: high-quality celebrity deepfakes with improved synthesis. Provides the challenging zero-shot cross-dataset test benchmark used throughout our evaluation.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1947672"/>
            <a:ext cx="4069080" cy="987552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9768" y="2002536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9768" y="20025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Cues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47672" y="1984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Frank et al.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ICML 2020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27685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GAN-generated images exhibit inherent spectral artifacts in the DCT domain. Core motivation for our per-channel DCT frequency stream and compression-aware training.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0" y="1947672"/>
            <a:ext cx="4069080" cy="987552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81728" y="2002536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34D39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81728" y="20025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Freq-Aware Detection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99632" y="1984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Qian et al. (F3-Net)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ECCV 2020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09160" y="227685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Mines frequency-aware clues via learnable frequency filters for face forgery detection. Directly inspired the ResNet-18 DCT frequency stream in our dual-stream architecture.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3026664"/>
            <a:ext cx="4069080" cy="987552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29768" y="3081528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A78B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29768" y="30815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947672" y="3063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Zhao et al. (Multi-Att.)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CVPR 2021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335584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Multi-attentional deepfake detection via texture attention. Confirms manipulation traces are spatially localized — consistent with our Grad-CAM findings on face boundaries.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0" y="3026664"/>
            <a:ext cx="4069080" cy="987552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81728" y="3081528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FB92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681728" y="30815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Video Robustness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99632" y="3063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B92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(AltFreezing)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B92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CVPR 2023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09160" y="335584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Alternates spatial and temporal learning for general video-level forgery detection robustness. State-of-the-art comparison baseline (89.0% AUC); our model achieves 90.2%.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" y="4105656"/>
            <a:ext cx="4069080" cy="987552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9768" y="4160520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29768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SOTA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947672" y="4142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Yan et al. (Effort)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ICML 2025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Subspace Decomposition for Generalizable AI-Generated Image Detection. Fine-tunes CLIP via SVD weight decomposition, achieving 95.6% cross-dataset AUC — current SOTA.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72000" y="4105656"/>
            <a:ext cx="4069080" cy="987552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681728" y="4160520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34D39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681728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Latest SOTA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199632" y="4142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Yermakov et al. (GenD)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WACV 2026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709160" y="44348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Fine-tunes only 0.03% of CLIP ViT-L/14 (layer-norm params) with hyperspherical metric learning. Best avg. cross-dataset AUROC across 14 benchmarks. Demonstrates parameter-efficient foundation model adaptation.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Attentive Spatial-Frequency Fusion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8186" y="2021424"/>
            <a:ext cx="1097280" cy="73152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1" y="201168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40180" y="2057400"/>
            <a:ext cx="1188720" cy="73152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25565" y="2017225"/>
            <a:ext cx="1188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(MTCNN)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1401955"/>
            <a:ext cx="1097280" cy="73152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299×299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80360" y="2621030"/>
            <a:ext cx="1097280" cy="73152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260604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Log-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1339821"/>
            <a:ext cx="1280160" cy="914400"/>
          </a:xfrm>
          <a:prstGeom prst="rect">
            <a:avLst/>
          </a:prstGeom>
          <a:solidFill>
            <a:srgbClr val="E8B8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325880"/>
            <a:ext cx="1280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2537460"/>
            <a:ext cx="1280160" cy="914400"/>
          </a:xfrm>
          <a:prstGeom prst="rect">
            <a:avLst/>
          </a:prstGeom>
          <a:solidFill>
            <a:srgbClr val="4FC3F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22271" y="1920359"/>
            <a:ext cx="1188720" cy="868680"/>
          </a:xfrm>
          <a:prstGeom prst="rect">
            <a:avLst/>
          </a:prstGeom>
          <a:solidFill>
            <a:srgbClr val="2DD4BF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31415" y="1894236"/>
            <a:ext cx="11887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(sigmoid)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32695" y="2021424"/>
            <a:ext cx="960870" cy="73152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20193" y="1979358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75695" y="2057400"/>
            <a:ext cx="594360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85012" y="2057400"/>
            <a:ext cx="73227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211580" y="2387184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 flipV="1">
            <a:off x="2857500" y="205740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628900" y="2363574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023360" y="178308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977640" y="2990538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71094" y="1797021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V="1">
            <a:off x="5513381" y="2990538"/>
            <a:ext cx="321839" cy="412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13239" y="2368285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93572" y="2368662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37033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g⊙z_s + (1−g)⊙z_f   |   g = σ(W[z_s; z_f])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" y="40690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Xception spatial stream — 2048-D features projected to 512-D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ResNet-18 DCT stream — 512-D frequency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Learned channel-wise gate adaptively weights streams per sample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Focal Loss + AdamW + cosine annealing warm restarts</a:t>
            </a:r>
            <a:endParaRPr lang="en-US" sz="1000" dirty="0"/>
          </a:p>
        </p:txBody>
      </p:sp>
      <p:sp>
        <p:nvSpPr>
          <p:cNvPr id="34" name="Shape 22">
            <a:extLst>
              <a:ext uri="{FF2B5EF4-FFF2-40B4-BE49-F238E27FC236}">
                <a16:creationId xmlns:a16="http://schemas.microsoft.com/office/drawing/2014/main" id="{021F1739-47A9-78CD-2985-CE2681D851C5}"/>
              </a:ext>
            </a:extLst>
          </p:cNvPr>
          <p:cNvSpPr/>
          <p:nvPr/>
        </p:nvSpPr>
        <p:spPr>
          <a:xfrm flipV="1">
            <a:off x="2857500" y="2363574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F924CE36-E9EC-D4E8-9B2B-077A2B9760EA}"/>
              </a:ext>
            </a:extLst>
          </p:cNvPr>
          <p:cNvSpPr/>
          <p:nvPr/>
        </p:nvSpPr>
        <p:spPr>
          <a:xfrm>
            <a:off x="5843079" y="1788338"/>
            <a:ext cx="2335" cy="12115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26">
            <a:extLst>
              <a:ext uri="{FF2B5EF4-FFF2-40B4-BE49-F238E27FC236}">
                <a16:creationId xmlns:a16="http://schemas.microsoft.com/office/drawing/2014/main" id="{37AC938E-2143-9572-1A11-ACF043365330}"/>
              </a:ext>
            </a:extLst>
          </p:cNvPr>
          <p:cNvSpPr/>
          <p:nvPr/>
        </p:nvSpPr>
        <p:spPr>
          <a:xfrm>
            <a:off x="5843080" y="2784588"/>
            <a:ext cx="0" cy="20595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→ RGB Crop + DCT 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508760" cy="18288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3258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/ AVI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69164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93392" y="914400"/>
            <a:ext cx="1508760" cy="18288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93392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084832" y="1554480"/>
            <a:ext cx="1325880" cy="2743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93392" y="16002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2057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2152" y="169164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12464" y="914400"/>
            <a:ext cx="1508760" cy="18288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12464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803904" y="1554480"/>
            <a:ext cx="132588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12464" y="16002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12464" y="2057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21224" y="169164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31536" y="914400"/>
            <a:ext cx="1508760" cy="18288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31536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5522976" y="1554480"/>
            <a:ext cx="1325880" cy="274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31536" y="16002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31536" y="2057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margin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0296" y="169164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50608" y="914400"/>
            <a:ext cx="1508760" cy="18288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50608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7242048" y="1554480"/>
            <a:ext cx="13258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50608" y="16002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50608" y="2057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299×299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28346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Dual-branch output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4400" y="3154680"/>
            <a:ext cx="3200400" cy="123444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14400" y="3154680"/>
            <a:ext cx="3200400" cy="27432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Branch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474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crop → 299×299 RGB tensor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Xception spatial backbone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0" y="3154680"/>
            <a:ext cx="3200400" cy="123444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29200" y="3154680"/>
            <a:ext cx="3200400" cy="27432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Branch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3474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2D DCT → log(|F|+1)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ResNet-18 frequency backbone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MTCNN? Robust to pose/lighting; best-face selection by bounding-box area ensures largest, sharpest crop per frame.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encoder + attentive gated fusion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474720" cy="18288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474720" cy="32004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Spatial Stream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</a:t>
            </a: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(ImageNet pre-trained)
</a:t>
            </a: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299×299 RGB face crop
</a:t>
            </a: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2048-D → projected to 512-D (FC + BN + ReLU)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880360"/>
            <a:ext cx="3474720" cy="182880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880360"/>
            <a:ext cx="3474720" cy="32004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Frequency Stream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</a:t>
            </a: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(ImageNet pre-trained)
</a:t>
            </a: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DCT log-magnitude (299×299×3)
</a:t>
            </a: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frequency feature vector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0" y="1463040"/>
            <a:ext cx="2468880" cy="219456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0" y="1463040"/>
            <a:ext cx="2468880" cy="3200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Gated Fusion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182880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</a:t>
            </a: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σ(W·[z_s; z_f])
</a:t>
            </a: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Fusion: </a:t>
            </a: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g⊙z_s + (1−g)⊙z_f
</a:t>
            </a: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</a:t>
            </a: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fused representation
</a:t>
            </a: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channel-wise weighting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1920240" cy="146304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03720" y="1828800"/>
            <a:ext cx="1920240" cy="3200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1828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Classifier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2194560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512 → 256 →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BN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output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logit → sigmoid → P(fake)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4760" y="1828800"/>
            <a:ext cx="320040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94760" y="3794760"/>
            <a:ext cx="32004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83680" y="2560320"/>
            <a:ext cx="32004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&amp; Robustness Augmentations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402336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32004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114800" cy="429768"/>
          </a:xfrm>
          <a:prstGeom prst="rect">
            <a:avLst/>
          </a:prstGeom>
          <a:solidFill>
            <a:srgbClr val="192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3990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(γ=2, α=0.25) + label smoothing (ε=0.1)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18379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(lr=1e-4, weight decay=1e-4)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03704"/>
            <a:ext cx="4114800" cy="429768"/>
          </a:xfrm>
          <a:prstGeom prst="rect">
            <a:avLst/>
          </a:prstGeom>
          <a:solidFill>
            <a:srgbClr val="192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2768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2768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Warm Restarts (T₀=10)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15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Clipping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2715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norm = 1.0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81528"/>
            <a:ext cx="4114800" cy="429768"/>
          </a:xfrm>
          <a:prstGeom prst="rect">
            <a:avLst/>
          </a:prstGeom>
          <a:solidFill>
            <a:srgbClr val="192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154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3154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10 on validation AUROC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593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3593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| Device: Apple MPS (M-series GPU)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959352"/>
            <a:ext cx="4114800" cy="429768"/>
          </a:xfrm>
          <a:prstGeom prst="rect">
            <a:avLst/>
          </a:prstGeom>
          <a:solidFill>
            <a:srgbClr val="192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0325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40325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FaceForensics++ (train split)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91640" y="447141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× 299 RGB + DCT maps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914400"/>
            <a:ext cx="4114800" cy="402336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914400"/>
            <a:ext cx="4114800" cy="32004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Augmentations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1325880"/>
            <a:ext cx="3931920" cy="548640"/>
          </a:xfrm>
          <a:prstGeom prst="rect">
            <a:avLst/>
          </a:prstGeom>
          <a:solidFill>
            <a:srgbClr val="192845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134416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🗜️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13716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Simulation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16002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factor sampled 40–100 during training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1947672"/>
            <a:ext cx="3931920" cy="548640"/>
          </a:xfrm>
          <a:prstGeom prst="rect">
            <a:avLst/>
          </a:prstGeom>
          <a:solidFill>
            <a:srgbClr val="192845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1965960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🌫️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49240" y="19933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222199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kernel to simulate motion / compression softening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569464"/>
            <a:ext cx="3931920" cy="548640"/>
          </a:xfrm>
          <a:prstGeom prst="rect">
            <a:avLst/>
          </a:prstGeom>
          <a:solidFill>
            <a:srgbClr val="192845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25877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49240" y="26151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Degradation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284378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 + upsample to simulate bandwidth limits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3191256"/>
            <a:ext cx="3931920" cy="548640"/>
          </a:xfrm>
          <a:prstGeom prst="rect">
            <a:avLst/>
          </a:prstGeom>
          <a:solidFill>
            <a:srgbClr val="192845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3209544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349240" y="32369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49240" y="346557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Brightness, contrast, saturation, hue perturbation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3813048"/>
            <a:ext cx="3931920" cy="548640"/>
          </a:xfrm>
          <a:prstGeom prst="rect">
            <a:avLst/>
          </a:prstGeom>
          <a:solidFill>
            <a:srgbClr val="192845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3831336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🔲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349240" y="38587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Masking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49240" y="40873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DCT coefficient masking to prevent freq. over-reliance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4434840"/>
            <a:ext cx="3931920" cy="548640"/>
          </a:xfrm>
          <a:prstGeom prst="rect">
            <a:avLst/>
          </a:prstGeom>
          <a:solidFill>
            <a:srgbClr val="192845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6320" y="445312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349240" y="44805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Augments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49240" y="4709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crop, horizontal flip, normalization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metrics, and threshold selection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840480" cy="192024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840480" cy="32004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FaceForensics++ (FF++)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manipulation methods (DF, F2F, FS, NT)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Train: ~700 videos | Validation: ~140 videos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Role: training + in-domain evaluation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 support: 35,594 (val)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914400"/>
            <a:ext cx="4297680" cy="192024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914400"/>
            <a:ext cx="4297680" cy="32004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Celeb-DF-v2 (cross-dataset test)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28016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590 real | 5,639 fake videos (≈9.5:1 imbalance)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120,062 frames total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Role: zero-shot cross-dataset evaluation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fine-tuning on Celeb-DF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114800" cy="196596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114800" cy="2743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2461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• Average Precision (AP) • EER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• Macro-F1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&amp; video-level (avg frame prob.)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14800" cy="196596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14800" cy="2743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Selection Strategy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2461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Youden's J (main) — maximises TPR−FPR on FF++ val.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FPR=1% — high-precision operating point.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FPR=5% — balanced operating point.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Fixed 0.5 — shown as misleading baseline.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transferred to Celeb-DF-v2 as-is.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Youden's-J threshold | FF++ validation &amp; Celeb-DF-v2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FF++ (val)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FF++ (val)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Celeb-DF-v2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Celeb-DF-v2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429000"/>
            <a:ext cx="2697480" cy="141732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3429000"/>
            <a:ext cx="2697480" cy="10972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0.9955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20040" y="41879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FF++ Video AUROC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4480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in-domain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72968" y="3429000"/>
            <a:ext cx="2697480" cy="141732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9"/>
          <p:cNvSpPr/>
          <p:nvPr/>
        </p:nvSpPr>
        <p:spPr>
          <a:xfrm>
            <a:off x="3172968" y="3429000"/>
            <a:ext cx="2697480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172968" y="35661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0.9018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172968" y="41879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Celeb-DF-v2 Video AUROC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72968" y="4480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cross-dataset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25896" y="3429000"/>
            <a:ext cx="2697480" cy="141732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25896" y="3429000"/>
            <a:ext cx="26974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25896" y="35661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0.9873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6025896" y="41879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Celeb-DF-v2 AP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25896" y="4480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fake-detection precision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State of the Art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52120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E8B8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FF++ to Celeb-DF-v2 cross-dataset AUC (%)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758146"/>
              </p:ext>
            </p:extLst>
          </p:nvPr>
        </p:nvGraphicFramePr>
        <p:xfrm>
          <a:off x="320040" y="768743"/>
          <a:ext cx="5852160" cy="4296875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Xception [Rossler et al., ICCV 2019]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F3-Net [Qian et al., ECCV 2020]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X-Ray [Li et al., CVPR 2020]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Multi-Att. [Zhao et al., CVPR 2021]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[Shiohara et al., CVPR 2022]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AltFreezing [Wang et al., CVPR 2023]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LAA-Net [Nguyen et al., CVPR 2024]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[Yan et al., ICML 2025]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 [Yermakov et al., WACV 2026]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— Dual-Stream + Gated Fusion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914400"/>
            <a:ext cx="2377440" cy="214884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46520" y="914400"/>
            <a:ext cx="2377440" cy="29260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37960" y="9144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37960" y="1252728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90.2% AUC — competitive with years of SOTA using a simpler 35M-param two-stream design.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Latest: GenD (WACV 2026) fine-tunes only 0.03% of CLIP ViT-L/14 (304M params).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expected; our focus is compression robustness + transparent evaluation protocol.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46520" y="3200400"/>
            <a:ext cx="2377440" cy="1755648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46520" y="3200400"/>
            <a:ext cx="2377440" cy="292608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37960" y="32004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Protocol Note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0"/>
          <p:cNvSpPr/>
          <p:nvPr/>
        </p:nvSpPr>
        <p:spPr>
          <a:xfrm>
            <a:off x="6537960" y="3538728"/>
            <a:ext cx="2194560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complicated by: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FF++ c23 vs c40 variants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Frame vs video-level metrics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 preprocessing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Our: c23 + Youden-J, video-level AUROC.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Robustness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Quality Factor sweep — video-level AUROC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914400"/>
          <a:ext cx="5943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005840"/>
            <a:ext cx="2423160" cy="109728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92240" y="1005840"/>
            <a:ext cx="2423160" cy="7315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0" y="111556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FF++ QF Drop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83680" y="13533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0.9956→0.9396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0" y="17373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−0.056 AUROC (QF100→20)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92240" y="2240280"/>
            <a:ext cx="2423160" cy="109728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92240" y="2240280"/>
            <a:ext cx="2423160" cy="7315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83680" y="23500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Celeb-DF-v2 QF Drop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0" y="25877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0.8972→0.8198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0" y="2971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−0.077 AUROC (QF100→20)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92240" y="3474720"/>
            <a:ext cx="2423160" cy="109728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92240" y="3474720"/>
            <a:ext cx="2423160" cy="7315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83680" y="358444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583680" y="38221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Robust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83680" y="42062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drop even at severe QF=20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Robustness vs. Prior Methods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571500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E8B8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JPEG degradation — AUROC drop comparison (FF++ video-level)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320040" y="804672"/>
          <a:ext cx="39319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434840" y="804672"/>
            <a:ext cx="2103120" cy="219456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434840" y="868680"/>
            <a:ext cx="2103120" cy="6400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26280" y="914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FF++  QF100→20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26280" y="113385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−5.6%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26280" y="17922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0.9956 → 0.9396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26280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AUROC drop (QF=100 → QF=20)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720840" y="804672"/>
            <a:ext cx="2103120" cy="219456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720840" y="868680"/>
            <a:ext cx="2103120" cy="6400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812280" y="914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CelebDF QF100→20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12280" y="113385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−8.6%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12280" y="17922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0.9018 → 0.8244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12280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AUROC drop (QF=100 → QF=20)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855523"/>
              </p:ext>
            </p:extLst>
          </p:nvPr>
        </p:nvGraphicFramePr>
        <p:xfrm>
          <a:off x="320040" y="2999232"/>
          <a:ext cx="8503920" cy="2057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QF=100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QF=20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ΔAUROC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Protocol 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Xception [Rossler 2019]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c23 trained; drops sharply (DeepfakeBench benchmark)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F3-Net [Qian 2020]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c23; learnable freq filters brittle to heavy compression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[Shiohara 2022]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 sensitivity noted (Yermakov et al., WACV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AltFreezing [Wang 2023]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5-level degradation protocol; video-level AUC (CVPR 2023, Fig.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LAA-Net [Nguyen 2024]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Quality-agnostic design; perturbation table (CVPR 2024, Table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 [Yermakov 2026]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F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 sweep Sec. 4.6; avg over 5 seeds (WACV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— Dual-Stream + 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QF sweep; FF++ video-level AUROC (our paper)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228600" y="49651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† Prior method numbers from their published robustness sections under similar protocols. ΔAUROC colour: green ≤6%, amber ≤9%, red &gt;9%. Our numbers are exact.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Future Work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542032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200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🏆  Key Findings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56032" cy="25603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408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📈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1399032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Video-level AUROC 0.9955 on FF++ — near-perfect in-domain detection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256032" cy="256032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🌐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4672" y="1819656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Video-level AUROC 0.9018 on Celeb-DF-v2 — competitive zero-shot cross-dataset result (90.2% AUC)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258568"/>
            <a:ext cx="256032" cy="256032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249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🗜️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4672" y="2240280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AUROC drops only −0.056 from QF 100→20; AUROC stays at 0.820 under both compression + domain shift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256032" cy="256032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⚡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4672" y="2660904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Adaptive channel-wise gate selectively suppresses degraded frequency dimensions under heavy compression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099816"/>
            <a:ext cx="256032" cy="256032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⚖️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4672" y="308152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Fixed θ=0.5 reports 92.5% accuracy but only 24.7% real recall — Youden J threshold is essential on 9.5:1 imbalanced 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3639312"/>
            <a:ext cx="8503920" cy="292608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4005072"/>
            <a:ext cx="2697480" cy="105156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" y="4005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" y="43891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8B8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11480" y="464515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LSTM / Transformer over frame sequences for true video-level reasoning — identified in our paper as the primary next step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172968" y="4005072"/>
            <a:ext cx="2697480" cy="105156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172968" y="4005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🗄️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264408" y="43891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8B8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DFDC &amp; WildDeepfake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64408" y="464515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DFDC (128K clips) and WildDeepfake for real-world deployment benchmarking beyond FF++ and Celeb-DF-v2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025896" y="4005072"/>
            <a:ext cx="2697480" cy="1051560"/>
          </a:xfrm>
          <a:prstGeom prst="rect">
            <a:avLst/>
          </a:prstGeom>
          <a:solidFill>
            <a:srgbClr val="1B2E5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25896" y="4005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17336" y="43891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8B8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17336" y="464515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E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35.2M-param model for mobile/edge deployment without major accuracy loss — practical deployment goal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553212"/>
            <a:ext cx="841248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E8B84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5528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A. Rossler, D. Cozzolino, L. Verdoliva, C. Riess, J. Thies, M. Niessner,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"FaceForensics++: Learning to Detect Manipulated Facial Images," </a:t>
            </a: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Proc. IEEE/CVF ICCV, pp. 1-11, 2019.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5528" y="1481328"/>
            <a:ext cx="8229600" cy="9144"/>
          </a:xfrm>
          <a:prstGeom prst="rect">
            <a:avLst/>
          </a:prstGeom>
          <a:solidFill>
            <a:srgbClr val="2A3F6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5528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Y. Li, X. Yang, P. Sun, H. Qi, S. Lyu,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"Celeb-DF: A Large-Scale Challenging Dataset for DeepFake Forensics," </a:t>
            </a: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Proc. IEEE/CVF CVPR, pp. 3207-3216, 2020.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5528" y="2029968"/>
            <a:ext cx="8229600" cy="9144"/>
          </a:xfrm>
          <a:prstGeom prst="rect">
            <a:avLst/>
          </a:prstGeom>
          <a:solidFill>
            <a:srgbClr val="2A3F6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2121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5528" y="2057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J. Frank, T. Eisenhofer, L. Schonherr, A. Fischer, D. Kolossa, T. Holz,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"Leveraging Frequency Analysis for Deep Fake Image Recognition," </a:t>
            </a: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Proc. ICML, vol. 119, pp. 3247-3258, 2020.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5528" y="2578608"/>
            <a:ext cx="8229600" cy="9144"/>
          </a:xfrm>
          <a:prstGeom prst="rect">
            <a:avLst/>
          </a:prstGeom>
          <a:solidFill>
            <a:srgbClr val="2A3F6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34D39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26700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5528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Y. Qian, G. Yin, L. Sheng, Z. Chen, J. Shao,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"Thinking in Frequency: Face Forgery Detection by Mining Frequency-Aware Clues," </a:t>
            </a: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Proc. ECCV, pp. 86-103, 2020.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5528" y="3127248"/>
            <a:ext cx="8229600" cy="9144"/>
          </a:xfrm>
          <a:prstGeom prst="rect">
            <a:avLst/>
          </a:prstGeom>
          <a:solidFill>
            <a:srgbClr val="2A3F6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21868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FB92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32186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5528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Z. Wang, J. Bao, W. Zhou, W. Wang, H. Li,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"AltFreezing for More General Video Face Forgery Detection," </a:t>
            </a: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Proc. IEEE/CVF CVPR, pp. 4129-4138, 2023.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5528" y="3675888"/>
            <a:ext cx="8229600" cy="9144"/>
          </a:xfrm>
          <a:prstGeom prst="rect">
            <a:avLst/>
          </a:prstGeom>
          <a:solidFill>
            <a:srgbClr val="2A3F6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A78B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" y="37673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95528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D. Nguyen, N. Mejri, I. P. Singh, et al.,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"LAA-Net: Localized Artifact Attention Network for Quality-Agnostic and Generalizable Deepfake Detection," </a:t>
            </a: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Proc. IEEE/CVF CVPR, pp. 17395-17405, 2024.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95528" y="4224528"/>
            <a:ext cx="8229600" cy="9144"/>
          </a:xfrm>
          <a:prstGeom prst="rect">
            <a:avLst/>
          </a:prstGeom>
          <a:solidFill>
            <a:srgbClr val="2A3F6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" y="431596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0040" y="43159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5528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Z. Yan, Y. Luo, S. Lyu, Q. Liu, B. Wu,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"Orthogonal Subspace Decomposition for Generalizable AI-Generated Image Detection (Effort)," </a:t>
            </a: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Proc. ICML 2025 Spotlight.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95528" y="4773168"/>
            <a:ext cx="8229600" cy="9144"/>
          </a:xfrm>
          <a:prstGeom prst="rect">
            <a:avLst/>
          </a:prstGeom>
          <a:solidFill>
            <a:srgbClr val="2A3F6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0040" y="4773168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34D39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0040" y="47731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95528" y="467258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A. Yermakov, J. Cech, J. Matas, M. Fritz,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"Deepfake Detection that Generalizes Across Benchmarks (GenD)," </a:t>
            </a: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Proc. IEEE/CVF WACV, 2026.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931920" y="365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560320" y="2788920"/>
            <a:ext cx="4023360" cy="36576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429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Aggarwal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2K22/CO/508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3429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Jain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2K22/CO/510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81304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4023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Neha Gupta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3434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Delhi Technological University</a:t>
            </a:r>
            <a:endParaRPr lang="en-US" sz="1000" dirty="0"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31CA1C57-D4B1-C697-45E2-22F42305B5E5}"/>
              </a:ext>
            </a:extLst>
          </p:cNvPr>
          <p:cNvSpPr/>
          <p:nvPr/>
        </p:nvSpPr>
        <p:spPr>
          <a:xfrm>
            <a:off x="3756080" y="482005"/>
            <a:ext cx="1631840" cy="1118195"/>
          </a:xfrm>
          <a:custGeom>
            <a:avLst/>
            <a:gdLst/>
            <a:ahLst/>
            <a:cxnLst/>
            <a:rect l="l" t="t" r="r" b="b"/>
            <a:pathLst>
              <a:path w="2869571" h="2860006">
                <a:moveTo>
                  <a:pt x="0" y="0"/>
                </a:moveTo>
                <a:lnTo>
                  <a:pt x="2869571" y="0"/>
                </a:lnTo>
                <a:lnTo>
                  <a:pt x="2869571" y="2860005"/>
                </a:lnTo>
                <a:lnTo>
                  <a:pt x="0" y="28600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3492</Words>
  <Application>Microsoft Macintosh PowerPoint</Application>
  <PresentationFormat>On-screen Show (16:9)</PresentationFormat>
  <Paragraphs>443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Compression-Resilient Deepfake Detector via Attentive Spatial-Frequency Fusion</dc:title>
  <dc:subject>PptxGenJS Presentation</dc:subject>
  <dc:creator>PptxGenJS</dc:creator>
  <cp:lastModifiedBy>YASH JAIN5</cp:lastModifiedBy>
  <cp:revision>3</cp:revision>
  <dcterms:created xsi:type="dcterms:W3CDTF">2026-05-23T13:52:34Z</dcterms:created>
  <dcterms:modified xsi:type="dcterms:W3CDTF">2026-05-24T16:26:20Z</dcterms:modified>
</cp:coreProperties>
</file>